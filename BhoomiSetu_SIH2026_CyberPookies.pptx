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Maximum points</c:v>
                </c:pt>
              </c:strCache>
            </c:strRef>
          </c:tx>
          <c:spPr>
            <a:solidFill>
              <a:srgbClr val="C77E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6140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Deadline proximity</c:v>
                  </c:pt>
                  <c:pt idx="1">
                    <c:v>Open objections</c:v>
                  </c:pt>
                  <c:pt idx="2">
                    <c:v>Missing documents</c:v>
                  </c:pt>
                  <c:pt idx="3">
                    <c:v>Stage delay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6140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140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3EA"/>
        </a:solidFill>
        <a:ln>
          <a:noFill/>
        </a:ln>
        <a:effectLst/>
      </c:spPr>
    </c:plotArea>
    <c:plotVisOnly val="1"/>
    <c:dispBlanksAs val="span"/>
  </c:chart>
  <c:spPr>
    <a:solidFill>
      <a:srgbClr val="F6F3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BhoomiSetu, PS 26016 for the Department of Land Resources. One line: land acquisition today is tracked in seven separate registers; we put all seven stages on one shared record that both the officer and the landowner can read. This is a working prototype — 42 parcels across 5 projects and 5 states run end to end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is broken. Middle: what we built. Right: what we added beyond the brief. The rail at the bottom is the actual RFCTLARR sequence we implement — with the real SLA days and required-document counts from the system. Emphasise the gate: advancement is a rule, not a dropdown.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architecture top-down: who is asking, what they see, the rules that decide, where data comes from, where it rests. The point to land is the third layer — the rules engine is pure and deterministic, so a department can audit it. And the fourth layer is why this is deployable: one interface, two adapters, so the demo and the real deployment are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feasibility angles on the left — technical, regulatory, economic. On the right, the five objections a judge is most likely to raise, each with the answer already implemented in the prototype rather than promised for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hub-and-branch diagram is the argument: the same record serves five very different audiences, which is exactly why fragmentation is the root problem. Then three benefit lenses — administrative, social, economic and environmental — and the prototype facts along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reference groups: the statute the workflow is derived from, the public evidence that the problem is real, and the technical standards behind the specific claims (SHA-256, RLS, WCAG, GIGW). Close on the dark card — the deck describes something that already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100" dirty="0"/>
          </a:p>
        </p:txBody>
      </p:sp>
      <p:pic>
        <p:nvPicPr>
          <p:cNvPr id="3" name="Image 0" descr="C:\Users\Ariha\AppData\Local\Temp\claude\C--Users-Ariha-OneDrive-Desktop-Shivansh-Sih\dae494b5-d612-4a61-8c44-43816428a686\scratchpad\sih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457200"/>
            <a:ext cx="50292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35240" y="47548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9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9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601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Bhoomi</a:t>
            </a:r>
            <a:pPr indent="0" marL="0">
              <a:buNone/>
            </a:pPr>
            <a:r>
              <a:rPr lang="en-US" sz="6400" b="1" spc="-50" kern="0" dirty="0">
                <a:solidFill>
                  <a:srgbClr val="F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031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role-scoped workspace that carries every land parcel through all seven statutory stages of acquisition — with the documents, objections, compensation and delay risk attached to the same record.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statutory stages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212848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212848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portals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785616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785616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358384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5358384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9A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for landowners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4590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42 parcels, 5 projects, 5 states, running end to end today.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992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PORTALS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" y="5248656"/>
            <a:ext cx="1068019" cy="274320"/>
          </a:xfrm>
          <a:prstGeom prst="roundRect">
            <a:avLst>
              <a:gd name="adj" fmla="val 46667"/>
            </a:avLst>
          </a:prstGeom>
          <a:solidFill>
            <a:srgbClr val="1B1913"/>
          </a:solidFill>
          <a:ln w="9525">
            <a:solidFill>
              <a:srgbClr val="4A44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48656"/>
            <a:ext cx="1068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Admin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799539" y="5248656"/>
            <a:ext cx="1133856" cy="274320"/>
          </a:xfrm>
          <a:prstGeom prst="roundRect">
            <a:avLst>
              <a:gd name="adj" fmla="val 46667"/>
            </a:avLst>
          </a:prstGeom>
          <a:solidFill>
            <a:srgbClr val="1B1913"/>
          </a:solidFill>
          <a:ln w="9525">
            <a:solidFill>
              <a:srgbClr val="4A44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99539" y="524865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Authority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024835" y="5248656"/>
            <a:ext cx="1199693" cy="274320"/>
          </a:xfrm>
          <a:prstGeom prst="roundRect">
            <a:avLst>
              <a:gd name="adj" fmla="val 46667"/>
            </a:avLst>
          </a:prstGeom>
          <a:solidFill>
            <a:srgbClr val="1B1913"/>
          </a:solidFill>
          <a:ln w="9525">
            <a:solidFill>
              <a:srgbClr val="4A44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24835" y="5248656"/>
            <a:ext cx="11996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Officer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15968" y="5248656"/>
            <a:ext cx="1002182" cy="274320"/>
          </a:xfrm>
          <a:prstGeom prst="roundRect">
            <a:avLst>
              <a:gd name="adj" fmla="val 46667"/>
            </a:avLst>
          </a:prstGeom>
          <a:solidFill>
            <a:srgbClr val="1B1913"/>
          </a:solidFill>
          <a:ln w="9525">
            <a:solidFill>
              <a:srgbClr val="4A44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15968" y="5248656"/>
            <a:ext cx="1002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09590" y="5248656"/>
            <a:ext cx="1463040" cy="274320"/>
          </a:xfrm>
          <a:prstGeom prst="roundRect">
            <a:avLst>
              <a:gd name="adj" fmla="val 46667"/>
            </a:avLst>
          </a:prstGeom>
          <a:solidFill>
            <a:srgbClr val="1B1913"/>
          </a:solidFill>
          <a:ln w="9525">
            <a:solidFill>
              <a:srgbClr val="4A44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09590" y="5248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Landowner — no login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315200" y="960120"/>
            <a:ext cx="4233672" cy="4983480"/>
          </a:xfrm>
          <a:prstGeom prst="roundRect">
            <a:avLst>
              <a:gd name="adj" fmla="val 1296"/>
            </a:avLst>
          </a:prstGeom>
          <a:solidFill>
            <a:srgbClr val="F6F3E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68096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680960" y="15179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7680960" y="16916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26016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680960" y="19933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21671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61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National Land Acquisition &amp; Management System for End-to-End Digital Monitoring and Decision Support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7680960" y="29992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680960" y="31729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Rural Development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680960" y="34747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7680960" y="36484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Land Resources (DoLR)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680960" y="39502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7680960" y="4123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680960" y="44256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7680960" y="45994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7680960" y="4901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7680960" y="50749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CyberPookies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680960" y="5376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7680960" y="55504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40080" y="614476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PS 26016  ·  Ministry of Rural Development, Dept. of Land Resources  ·  Team CyberPookies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161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560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CyberPookies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828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60" kern="0" dirty="0">
                <a:solidFill>
                  <a:srgbClr val="161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&amp; PROPOSED SOLUTION</a:t>
            </a:r>
            <a:endParaRPr lang="en-US" sz="2700" dirty="0"/>
          </a:p>
        </p:txBody>
      </p:sp>
      <p:pic>
        <p:nvPicPr>
          <p:cNvPr id="5" name="Image 0" descr="C:\Users\Ariha\AppData\Local\Temp\claude\C--Users-Ariha-OneDrive-Desktop-Shivansh-Sih\dae494b5-d612-4a61-8c44-43816428a686\scratchpad\sih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4" y="146304"/>
            <a:ext cx="44805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881360" y="164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644652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PS 26016  ·  Ministry of Rural Development, Dept. of Land Resources  ·  Team CyberPookies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292840" y="644652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914400"/>
            <a:ext cx="3493008" cy="3749040"/>
          </a:xfrm>
          <a:prstGeom prst="roundRect">
            <a:avLst>
              <a:gd name="adj" fmla="val 1571"/>
            </a:avLst>
          </a:prstGeom>
          <a:solidFill>
            <a:srgbClr val="F8EAE6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11338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A93B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111556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TODAY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1572768"/>
            <a:ext cx="29992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stages, seven registers.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parcel moves through notification, survey, objections, valuation, approval, award and possession — each with its own deadline, documents and officer.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holds the whole chain.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sits in district spreadsheets and project-office files, so the Ministry has to ask states for a return to learn anything.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landowner is outside the system.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check where a survey number stands, or why it stopped.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is found after it happens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 project review, not on the day a parcel starts slipping past its stage deadline.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tracked apart from status.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is still unpaid?” is a manual exercise.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69080" y="914400"/>
            <a:ext cx="3913632" cy="3749040"/>
          </a:xfrm>
          <a:prstGeom prst="roundRect">
            <a:avLst>
              <a:gd name="adj" fmla="val 1463"/>
            </a:avLst>
          </a:prstGeom>
          <a:solidFill>
            <a:srgbClr val="F6F3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15968" y="11338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140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315968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681728" y="11155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BhoomiSetu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151790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parcel record. Two portals. Seven gated stages.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343400" y="1828800"/>
            <a:ext cx="340156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history, documents, objections, compensation, owner and map boundary live on one record — officials and landowners read the same record.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gate, not a status field.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parcel advances only when that stage’s required documents are verified and no objection is open. The rule is enforced in code, not in a circular.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not reactive.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0–100 risk score ranks every parcel; the Action Center names the responsible officer and the exact next action.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by construction.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history entry is SHA-256 chained to the one before it — a back-dated edit visibly breaks the chain.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47304" y="914400"/>
            <a:ext cx="3630168" cy="3749040"/>
          </a:xfrm>
          <a:prstGeom prst="roundRect">
            <a:avLst>
              <a:gd name="adj" fmla="val 1511"/>
            </a:avLst>
          </a:prstGeom>
          <a:solidFill>
            <a:srgbClr val="E6F0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394192" y="113385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6F4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94192" y="1133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759952" y="11155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PROBLEM STATEMENT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421624" y="1572768"/>
            <a:ext cx="3127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Zero-login landowner access.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survey number — no account, no app, no visit to the office.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last mile.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 UI, voice search and read-aloud for low-literacy users, and a data-saver mode that drops map tiles on weak district networks.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in the owner’s language.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drafted in the language on record — Hindi, Marathi or English — at every stage change and objection update.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without procurement.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runs on in-memory data or on PostgreSQL, so a district can pilot it before anything is bought.</a:t>
            </a:r>
            <a:endParaRPr lang="en-US" sz="10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just dashboards.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Scope-aware printable reports, plus per-stage duration against SLA — so the slow stage is visible, not inferred.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148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77E0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1148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828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STATUTORY WORKFLOW WE MODEL  —  RFCTLARR Act, 2013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11480" y="532180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11480" y="537667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11480" y="57424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11 · 30 d  ·  1 doc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837944" y="5678424"/>
            <a:ext cx="201168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075688" y="532180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075688" y="537667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Survey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2075688" y="57424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  ·  2 docs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502152" y="5678424"/>
            <a:ext cx="201168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739896" y="532180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739896" y="537667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Review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3739896" y="57424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15 · 30 d  ·  1 doc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66360" y="5678424"/>
            <a:ext cx="201168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5404104" y="532180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04104" y="537667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404104" y="57424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  ·  1 doc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830568" y="5678424"/>
            <a:ext cx="201168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068312" y="532180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068312" y="537667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068312" y="57424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  ·  1 doc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494776" y="5678424"/>
            <a:ext cx="201168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8732520" y="532180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732520" y="537667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732520" y="57424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23 · 21 d  ·  1 doc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0158984" y="5678424"/>
            <a:ext cx="201168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10396728" y="5321808"/>
            <a:ext cx="1389888" cy="713232"/>
          </a:xfrm>
          <a:prstGeom prst="roundRect">
            <a:avLst>
              <a:gd name="adj" fmla="val 10256"/>
            </a:avLst>
          </a:prstGeom>
          <a:solidFill>
            <a:srgbClr val="E6F0EA"/>
          </a:solidFill>
          <a:ln w="12700">
            <a:solidFill>
              <a:srgbClr val="1F6F4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396728" y="537667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0396728" y="57424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  ·  1 doc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411480" y="6089904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gate: </a:t>
            </a:r>
            <a:pPr algn="ctr" indent="0" marL="0">
              <a:buNone/>
            </a:pPr>
            <a:r>
              <a:rPr lang="en-US" sz="10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documents verified  +  no open objection  →  advance. Miss either and the parcel is held, the SLA clock keeps running, and its risk score rises.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161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560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CyberPookies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828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60" kern="0" dirty="0">
                <a:solidFill>
                  <a:srgbClr val="161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700" dirty="0"/>
          </a:p>
        </p:txBody>
      </p:sp>
      <p:pic>
        <p:nvPicPr>
          <p:cNvPr id="5" name="Image 0" descr="C:\Users\Ariha\AppData\Local\Temp\claude\C--Users-Ariha-OneDrive-Desktop-Shivansh-Sih\dae494b5-d612-4a61-8c44-43816428a686\scratchpad\sih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4" y="146304"/>
            <a:ext cx="44805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881360" y="164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644652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PS 26016  ·  Ministry of Rural Development, Dept. of Land Resources  ·  Team CyberPookies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292840" y="644652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8961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140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8778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1261872"/>
            <a:ext cx="7461504" cy="694944"/>
          </a:xfrm>
          <a:prstGeom prst="roundRect">
            <a:avLst>
              <a:gd name="adj" fmla="val 6579"/>
            </a:avLst>
          </a:prstGeom>
          <a:solidFill>
            <a:srgbClr val="FBF0D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1307592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spc="50" kern="0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709928" y="1335024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7E0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09928" y="1335024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40710" y="1335024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7E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40710" y="1335024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171493" y="1335024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7E0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71493" y="1335024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02275" y="1335024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7E0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02275" y="1335024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633058" y="1335024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C77E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33058" y="1335024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Landowner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login)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709928" y="1737360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applied at the data layer — a district officer can never load another district’s parcel, even by URL.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42232" y="1984248"/>
            <a:ext cx="0" cy="109728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11480" y="2121408"/>
            <a:ext cx="7461504" cy="694944"/>
          </a:xfrm>
          <a:prstGeom prst="roundRect">
            <a:avLst>
              <a:gd name="adj" fmla="val 6579"/>
            </a:avLst>
          </a:prstGeom>
          <a:solidFill>
            <a:srgbClr val="EAEEF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2920" y="2167128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spc="50" kern="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709928" y="2194560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709928" y="2194560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940710" y="2194560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40710" y="2194560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Map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Table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171493" y="2194560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171493" y="2194560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02275" y="2194560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02275" y="2194560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33058" y="2194560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3A4A5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633058" y="2194560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/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Landowner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1709928" y="2596896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 · React Router · Leaflet · Framer Motion — responsive to 375 px, WCAG-minded.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142232" y="2843784"/>
            <a:ext cx="0" cy="109728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411480" y="2980944"/>
            <a:ext cx="7461504" cy="694944"/>
          </a:xfrm>
          <a:prstGeom prst="roundRect">
            <a:avLst>
              <a:gd name="adj" fmla="val 6579"/>
            </a:avLst>
          </a:prstGeom>
          <a:solidFill>
            <a:srgbClr val="E6F0E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02920" y="3026664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spc="50" kern="0" dirty="0">
                <a:solidFill>
                  <a:srgbClr val="1F6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 ENGINE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709928" y="3054096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1F6F4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709928" y="3054096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documents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940710" y="3054096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1F6F4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940710" y="3054096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171493" y="3054096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1F6F4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171493" y="3054096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state/district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402275" y="3054096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1F6F4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402275" y="3054096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633058" y="3054096"/>
            <a:ext cx="114848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1F6F4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33058" y="3054096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timeline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SMS text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1709928" y="3456432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deterministic TypeScript — no network, no ML, no randomness. Same input, same output, every run: auditable.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142232" y="3703320"/>
            <a:ext cx="0" cy="109728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411480" y="3840480"/>
            <a:ext cx="7461504" cy="548640"/>
          </a:xfrm>
          <a:prstGeom prst="roundRect">
            <a:avLst>
              <a:gd name="adj" fmla="val 8333"/>
            </a:avLst>
          </a:prstGeom>
          <a:solidFill>
            <a:srgbClr val="F6F3EA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502920" y="38862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spc="5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1709928" y="3913632"/>
            <a:ext cx="607161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16140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709928" y="3913632"/>
            <a:ext cx="6071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repository interface  →  Demo adapter (in-memory, offline)  |  Supabase adapter (live)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709928" y="4169664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the adapter changes nothing above it — the pilot path from laptop demo to state deployment.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142232" y="4416552"/>
            <a:ext cx="0" cy="109728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411480" y="4553712"/>
            <a:ext cx="7461504" cy="548640"/>
          </a:xfrm>
          <a:prstGeom prst="roundRect">
            <a:avLst>
              <a:gd name="adj" fmla="val 8333"/>
            </a:avLst>
          </a:prstGeom>
          <a:solidFill>
            <a:srgbClr val="EDE8D9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502920" y="459943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spc="5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709928" y="4626864"/>
            <a:ext cx="6071616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16140E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709928" y="4626864"/>
            <a:ext cx="6071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enums mirroring the domain, RLS enabled  |  Object storage for scanned documents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1709928" y="4882896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be re-pointed at DILRMP / Bhoomi Rashi records instead of our own tables.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411480" y="5266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6F4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11480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777240" y="524865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DOCUMENT UPLOAD TRIGGERS</a:t>
            </a:r>
            <a:endParaRPr lang="en-US" sz="1250" dirty="0"/>
          </a:p>
        </p:txBody>
      </p:sp>
      <p:sp>
        <p:nvSpPr>
          <p:cNvPr id="68" name="Shape 65"/>
          <p:cNvSpPr/>
          <p:nvPr/>
        </p:nvSpPr>
        <p:spPr>
          <a:xfrm>
            <a:off x="411480" y="5632704"/>
            <a:ext cx="1345997" cy="658368"/>
          </a:xfrm>
          <a:prstGeom prst="roundRect">
            <a:avLst>
              <a:gd name="adj" fmla="val 8333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411480" y="5678424"/>
            <a:ext cx="13459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scan</a:t>
            </a:r>
            <a:endParaRPr lang="en-US" sz="950" dirty="0"/>
          </a:p>
        </p:txBody>
      </p:sp>
      <p:sp>
        <p:nvSpPr>
          <p:cNvPr id="70" name="Text 67"/>
          <p:cNvSpPr txBox="1"/>
          <p:nvPr/>
        </p:nvSpPr>
        <p:spPr>
          <a:xfrm>
            <a:off x="411480" y="5888736"/>
            <a:ext cx="1345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image, by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or landowner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784909" y="5961888"/>
            <a:ext cx="128016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1940357" y="5632704"/>
            <a:ext cx="1345997" cy="658368"/>
          </a:xfrm>
          <a:prstGeom prst="roundRect">
            <a:avLst>
              <a:gd name="adj" fmla="val 8333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940357" y="5678424"/>
            <a:ext cx="13459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950" dirty="0"/>
          </a:p>
        </p:txBody>
      </p:sp>
      <p:sp>
        <p:nvSpPr>
          <p:cNvPr id="74" name="Text 71"/>
          <p:cNvSpPr txBox="1"/>
          <p:nvPr/>
        </p:nvSpPr>
        <p:spPr>
          <a:xfrm>
            <a:off x="1940357" y="5888736"/>
            <a:ext cx="1345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heuristic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thin / odd files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3313786" y="5961888"/>
            <a:ext cx="128016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3469234" y="5632704"/>
            <a:ext cx="1345997" cy="658368"/>
          </a:xfrm>
          <a:prstGeom prst="roundRect">
            <a:avLst>
              <a:gd name="adj" fmla="val 8333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3469234" y="5678424"/>
            <a:ext cx="13459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verifies</a:t>
            </a:r>
            <a:endParaRPr lang="en-US" sz="950" dirty="0"/>
          </a:p>
        </p:txBody>
      </p:sp>
      <p:sp>
        <p:nvSpPr>
          <p:cNvPr id="78" name="Text 75"/>
          <p:cNvSpPr txBox="1"/>
          <p:nvPr/>
        </p:nvSpPr>
        <p:spPr>
          <a:xfrm>
            <a:off x="3469234" y="5888736"/>
            <a:ext cx="1345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verify or reject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never automatic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4842662" y="5961888"/>
            <a:ext cx="128016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80" name="Shape 77"/>
          <p:cNvSpPr/>
          <p:nvPr/>
        </p:nvSpPr>
        <p:spPr>
          <a:xfrm>
            <a:off x="4998110" y="5632704"/>
            <a:ext cx="1345997" cy="658368"/>
          </a:xfrm>
          <a:prstGeom prst="roundRect">
            <a:avLst>
              <a:gd name="adj" fmla="val 8333"/>
            </a:avLst>
          </a:prstGeom>
          <a:solidFill>
            <a:srgbClr val="F6F3EA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4998110" y="5678424"/>
            <a:ext cx="13459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re-evaluates</a:t>
            </a:r>
            <a:endParaRPr lang="en-US" sz="950" dirty="0"/>
          </a:p>
        </p:txBody>
      </p:sp>
      <p:sp>
        <p:nvSpPr>
          <p:cNvPr id="82" name="Text 79"/>
          <p:cNvSpPr txBox="1"/>
          <p:nvPr/>
        </p:nvSpPr>
        <p:spPr>
          <a:xfrm>
            <a:off x="4998110" y="5888736"/>
            <a:ext cx="1345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docs met?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objection open?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6371539" y="5961888"/>
            <a:ext cx="128016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84" name="Shape 81"/>
          <p:cNvSpPr/>
          <p:nvPr/>
        </p:nvSpPr>
        <p:spPr>
          <a:xfrm>
            <a:off x="6526987" y="5632704"/>
            <a:ext cx="1345997" cy="658368"/>
          </a:xfrm>
          <a:prstGeom prst="roundRect">
            <a:avLst>
              <a:gd name="adj" fmla="val 8333"/>
            </a:avLst>
          </a:prstGeom>
          <a:solidFill>
            <a:srgbClr val="E6F0EA"/>
          </a:solidFill>
          <a:ln w="12700">
            <a:solidFill>
              <a:srgbClr val="1F6F4F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526987" y="5678424"/>
            <a:ext cx="13459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&amp; re-ranked</a:t>
            </a:r>
            <a:endParaRPr lang="en-US" sz="950" dirty="0"/>
          </a:p>
        </p:txBody>
      </p:sp>
      <p:sp>
        <p:nvSpPr>
          <p:cNvPr id="86" name="Text 83"/>
          <p:cNvSpPr txBox="1"/>
          <p:nvPr/>
        </p:nvSpPr>
        <p:spPr>
          <a:xfrm>
            <a:off x="6526987" y="5888736"/>
            <a:ext cx="1345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re-scores, entry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hash chain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8119872" y="8961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77E0A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119872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9" name="Text 86"/>
          <p:cNvSpPr txBox="1"/>
          <p:nvPr/>
        </p:nvSpPr>
        <p:spPr>
          <a:xfrm>
            <a:off x="8485632" y="8778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ENGINE</a:t>
            </a:r>
            <a:endParaRPr lang="en-US" sz="1250" dirty="0"/>
          </a:p>
        </p:txBody>
      </p:sp>
      <p:sp>
        <p:nvSpPr>
          <p:cNvPr id="90" name="Shape 87"/>
          <p:cNvSpPr/>
          <p:nvPr/>
        </p:nvSpPr>
        <p:spPr>
          <a:xfrm>
            <a:off x="8119872" y="1298448"/>
            <a:ext cx="3657600" cy="2615184"/>
          </a:xfrm>
          <a:prstGeom prst="roundRect">
            <a:avLst>
              <a:gd name="adj" fmla="val 2098"/>
            </a:avLst>
          </a:prstGeom>
          <a:solidFill>
            <a:srgbClr val="F6F3EA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8284464" y="1408176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parcel scores 0–100 from four measurable signals — no model, no training data, fully explainable to the officer it flags.</a:t>
            </a:r>
            <a:endParaRPr lang="en-US" sz="950" dirty="0"/>
          </a:p>
        </p:txBody>
      </p:sp>
      <p:graphicFrame>
        <p:nvGraphicFramePr>
          <p:cNvPr id="92" name="Chart 0" descr=""/>
          <p:cNvGraphicFramePr/>
          <p:nvPr/>
        </p:nvGraphicFramePr>
        <p:xfrm>
          <a:off x="8174736" y="1847088"/>
          <a:ext cx="3547872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3" name="Shape 89"/>
          <p:cNvSpPr/>
          <p:nvPr/>
        </p:nvSpPr>
        <p:spPr>
          <a:xfrm>
            <a:off x="8229600" y="3346704"/>
            <a:ext cx="822960" cy="219456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9525">
            <a:solidFill>
              <a:srgbClr val="1F6F4F"/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8229600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0–24</a:t>
            </a:r>
            <a:endParaRPr lang="en-US" sz="800" dirty="0"/>
          </a:p>
        </p:txBody>
      </p:sp>
      <p:sp>
        <p:nvSpPr>
          <p:cNvPr id="95" name="Text 91"/>
          <p:cNvSpPr txBox="1"/>
          <p:nvPr/>
        </p:nvSpPr>
        <p:spPr>
          <a:xfrm>
            <a:off x="8229600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96" name="Shape 92"/>
          <p:cNvSpPr/>
          <p:nvPr/>
        </p:nvSpPr>
        <p:spPr>
          <a:xfrm>
            <a:off x="9107424" y="3346704"/>
            <a:ext cx="822960" cy="219456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9525">
            <a:solidFill>
              <a:srgbClr val="C77E0A"/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9107424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25–49</a:t>
            </a:r>
            <a:endParaRPr lang="en-US" sz="800" dirty="0"/>
          </a:p>
        </p:txBody>
      </p:sp>
      <p:sp>
        <p:nvSpPr>
          <p:cNvPr id="98" name="Text 94"/>
          <p:cNvSpPr txBox="1"/>
          <p:nvPr/>
        </p:nvSpPr>
        <p:spPr>
          <a:xfrm>
            <a:off x="9107424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99" name="Shape 95"/>
          <p:cNvSpPr/>
          <p:nvPr/>
        </p:nvSpPr>
        <p:spPr>
          <a:xfrm>
            <a:off x="9985248" y="3346704"/>
            <a:ext cx="822960" cy="219456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9525">
            <a:solidFill>
              <a:srgbClr val="C4622A"/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9985248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50–74</a:t>
            </a:r>
            <a:endParaRPr lang="en-US" sz="800" dirty="0"/>
          </a:p>
        </p:txBody>
      </p:sp>
      <p:sp>
        <p:nvSpPr>
          <p:cNvPr id="101" name="Text 97"/>
          <p:cNvSpPr txBox="1"/>
          <p:nvPr/>
        </p:nvSpPr>
        <p:spPr>
          <a:xfrm>
            <a:off x="9985248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2" name="Shape 98"/>
          <p:cNvSpPr/>
          <p:nvPr/>
        </p:nvSpPr>
        <p:spPr>
          <a:xfrm>
            <a:off x="10863072" y="3346704"/>
            <a:ext cx="822960" cy="219456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9525">
            <a:solidFill>
              <a:srgbClr val="A93B2A"/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10863072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75–100</a:t>
            </a:r>
            <a:endParaRPr lang="en-US" sz="800" dirty="0"/>
          </a:p>
        </p:txBody>
      </p:sp>
      <p:sp>
        <p:nvSpPr>
          <p:cNvPr id="104" name="Text 100"/>
          <p:cNvSpPr txBox="1"/>
          <p:nvPr/>
        </p:nvSpPr>
        <p:spPr>
          <a:xfrm>
            <a:off x="10863072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05" name="Shape 101"/>
          <p:cNvSpPr/>
          <p:nvPr/>
        </p:nvSpPr>
        <p:spPr>
          <a:xfrm>
            <a:off x="8119872" y="40416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A4A5C"/>
          </a:solidFill>
          <a:ln/>
        </p:spPr>
      </p:sp>
      <p:sp>
        <p:nvSpPr>
          <p:cNvPr id="106" name="Text 102"/>
          <p:cNvSpPr txBox="1"/>
          <p:nvPr/>
        </p:nvSpPr>
        <p:spPr>
          <a:xfrm>
            <a:off x="8119872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7" name="Text 103"/>
          <p:cNvSpPr txBox="1"/>
          <p:nvPr/>
        </p:nvSpPr>
        <p:spPr>
          <a:xfrm>
            <a:off x="8485632" y="40233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108" name="Shape 104"/>
          <p:cNvSpPr/>
          <p:nvPr/>
        </p:nvSpPr>
        <p:spPr>
          <a:xfrm>
            <a:off x="8174736" y="4480560"/>
            <a:ext cx="64556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09" name="Text 105"/>
          <p:cNvSpPr txBox="1"/>
          <p:nvPr/>
        </p:nvSpPr>
        <p:spPr>
          <a:xfrm>
            <a:off x="8174736" y="4480560"/>
            <a:ext cx="645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850" dirty="0"/>
          </a:p>
        </p:txBody>
      </p:sp>
      <p:sp>
        <p:nvSpPr>
          <p:cNvPr id="110" name="Shape 106"/>
          <p:cNvSpPr/>
          <p:nvPr/>
        </p:nvSpPr>
        <p:spPr>
          <a:xfrm>
            <a:off x="8911742" y="448056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11" name="Text 107"/>
          <p:cNvSpPr txBox="1"/>
          <p:nvPr/>
        </p:nvSpPr>
        <p:spPr>
          <a:xfrm>
            <a:off x="8911742" y="4480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112" name="Shape 108"/>
          <p:cNvSpPr/>
          <p:nvPr/>
        </p:nvSpPr>
        <p:spPr>
          <a:xfrm>
            <a:off x="9780422" y="4480560"/>
            <a:ext cx="38221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13" name="Text 109"/>
          <p:cNvSpPr txBox="1"/>
          <p:nvPr/>
        </p:nvSpPr>
        <p:spPr>
          <a:xfrm>
            <a:off x="9780422" y="4480560"/>
            <a:ext cx="382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850" dirty="0"/>
          </a:p>
        </p:txBody>
      </p:sp>
      <p:sp>
        <p:nvSpPr>
          <p:cNvPr id="114" name="Shape 110"/>
          <p:cNvSpPr/>
          <p:nvPr/>
        </p:nvSpPr>
        <p:spPr>
          <a:xfrm>
            <a:off x="10254082" y="4480560"/>
            <a:ext cx="104058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10254082" y="4480560"/>
            <a:ext cx="10405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850" dirty="0"/>
          </a:p>
        </p:txBody>
      </p:sp>
      <p:sp>
        <p:nvSpPr>
          <p:cNvPr id="116" name="Shape 112"/>
          <p:cNvSpPr/>
          <p:nvPr/>
        </p:nvSpPr>
        <p:spPr>
          <a:xfrm>
            <a:off x="8174736" y="4791456"/>
            <a:ext cx="57973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17" name="Text 113"/>
          <p:cNvSpPr txBox="1"/>
          <p:nvPr/>
        </p:nvSpPr>
        <p:spPr>
          <a:xfrm>
            <a:off x="8174736" y="4791456"/>
            <a:ext cx="579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850" dirty="0"/>
          </a:p>
        </p:txBody>
      </p:sp>
      <p:sp>
        <p:nvSpPr>
          <p:cNvPr id="118" name="Shape 114"/>
          <p:cNvSpPr/>
          <p:nvPr/>
        </p:nvSpPr>
        <p:spPr>
          <a:xfrm>
            <a:off x="8845906" y="4791456"/>
            <a:ext cx="97475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19" name="Text 115"/>
          <p:cNvSpPr txBox="1"/>
          <p:nvPr/>
        </p:nvSpPr>
        <p:spPr>
          <a:xfrm>
            <a:off x="8845906" y="4791456"/>
            <a:ext cx="9747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850" dirty="0"/>
          </a:p>
        </p:txBody>
      </p:sp>
      <p:sp>
        <p:nvSpPr>
          <p:cNvPr id="120" name="Shape 116"/>
          <p:cNvSpPr/>
          <p:nvPr/>
        </p:nvSpPr>
        <p:spPr>
          <a:xfrm>
            <a:off x="9912096" y="4791456"/>
            <a:ext cx="64556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21" name="Text 117"/>
          <p:cNvSpPr txBox="1"/>
          <p:nvPr/>
        </p:nvSpPr>
        <p:spPr>
          <a:xfrm>
            <a:off x="9912096" y="4791456"/>
            <a:ext cx="645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122" name="Shape 118"/>
          <p:cNvSpPr/>
          <p:nvPr/>
        </p:nvSpPr>
        <p:spPr>
          <a:xfrm>
            <a:off x="8174736" y="5102352"/>
            <a:ext cx="1172261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23" name="Text 119"/>
          <p:cNvSpPr txBox="1"/>
          <p:nvPr/>
        </p:nvSpPr>
        <p:spPr>
          <a:xfrm>
            <a:off x="8174736" y="5102352"/>
            <a:ext cx="11722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850" dirty="0"/>
          </a:p>
        </p:txBody>
      </p:sp>
      <p:sp>
        <p:nvSpPr>
          <p:cNvPr id="124" name="Shape 120"/>
          <p:cNvSpPr/>
          <p:nvPr/>
        </p:nvSpPr>
        <p:spPr>
          <a:xfrm>
            <a:off x="9438437" y="5102352"/>
            <a:ext cx="14356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25" name="Text 121"/>
          <p:cNvSpPr txBox="1"/>
          <p:nvPr/>
        </p:nvSpPr>
        <p:spPr>
          <a:xfrm>
            <a:off x="9438437" y="510235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(SHA-256)</a:t>
            </a:r>
            <a:endParaRPr lang="en-US" sz="850" dirty="0"/>
          </a:p>
        </p:txBody>
      </p:sp>
      <p:sp>
        <p:nvSpPr>
          <p:cNvPr id="126" name="Shape 122"/>
          <p:cNvSpPr/>
          <p:nvPr/>
        </p:nvSpPr>
        <p:spPr>
          <a:xfrm>
            <a:off x="8174736" y="5413248"/>
            <a:ext cx="104058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27" name="Text 123"/>
          <p:cNvSpPr txBox="1"/>
          <p:nvPr/>
        </p:nvSpPr>
        <p:spPr>
          <a:xfrm>
            <a:off x="8174736" y="5413248"/>
            <a:ext cx="10405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850" dirty="0"/>
          </a:p>
        </p:txBody>
      </p:sp>
      <p:sp>
        <p:nvSpPr>
          <p:cNvPr id="128" name="Shape 124"/>
          <p:cNvSpPr/>
          <p:nvPr/>
        </p:nvSpPr>
        <p:spPr>
          <a:xfrm>
            <a:off x="9306763" y="5413248"/>
            <a:ext cx="104058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29" name="Text 125"/>
          <p:cNvSpPr txBox="1"/>
          <p:nvPr/>
        </p:nvSpPr>
        <p:spPr>
          <a:xfrm>
            <a:off x="9306763" y="5413248"/>
            <a:ext cx="10405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850" dirty="0"/>
          </a:p>
        </p:txBody>
      </p:sp>
      <p:sp>
        <p:nvSpPr>
          <p:cNvPr id="130" name="Shape 126"/>
          <p:cNvSpPr/>
          <p:nvPr/>
        </p:nvSpPr>
        <p:spPr>
          <a:xfrm>
            <a:off x="10438790" y="5413248"/>
            <a:ext cx="1172261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D6C4"/>
            </a:solidFill>
            <a:prstDash val="solid"/>
          </a:ln>
        </p:spPr>
      </p:sp>
      <p:sp>
        <p:nvSpPr>
          <p:cNvPr id="131" name="Text 127"/>
          <p:cNvSpPr txBox="1"/>
          <p:nvPr/>
        </p:nvSpPr>
        <p:spPr>
          <a:xfrm>
            <a:off x="10438790" y="5413248"/>
            <a:ext cx="11722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dependency</a:t>
            </a:r>
            <a:endParaRPr lang="en-US" sz="850" dirty="0"/>
          </a:p>
        </p:txBody>
      </p:sp>
      <p:sp>
        <p:nvSpPr>
          <p:cNvPr id="132" name="Text 128"/>
          <p:cNvSpPr txBox="1"/>
          <p:nvPr/>
        </p:nvSpPr>
        <p:spPr>
          <a:xfrm>
            <a:off x="8119872" y="59984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scale today: 42 parcels · 5 projects · 5 states · 7 stages · 8 document kinds · 5 official roles — all running against the same rules engine.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161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560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CyberPookies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828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60" kern="0" dirty="0">
                <a:solidFill>
                  <a:srgbClr val="161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700" dirty="0"/>
          </a:p>
        </p:txBody>
      </p:sp>
      <p:pic>
        <p:nvPicPr>
          <p:cNvPr id="5" name="Image 0" descr="C:\Users\Ariha\AppData\Local\Temp\claude\C--Users-Ariha-OneDrive-Desktop-Shivansh-Sih\dae494b5-d612-4a61-8c44-43816428a686\scratchpad\sih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4" y="146304"/>
            <a:ext cx="44805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881360" y="164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644652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PS 26016  ·  Ministry of Rural Development, Dept. of Land Resources  ·  Team CyberPookies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292840" y="644652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914400"/>
            <a:ext cx="5349240" cy="1719072"/>
          </a:xfrm>
          <a:prstGeom prst="roundRect">
            <a:avLst>
              <a:gd name="adj" fmla="val 3191"/>
            </a:avLst>
          </a:prstGeom>
          <a:solidFill>
            <a:srgbClr val="EAEEF3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0789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A4A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106070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1481328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built, not proposed.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stages, 5 role portals, map, risk queue, reports and audit ledger run today over 42 parcels in 5 states.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engine is pure TypeScript — unit-testable and reproducible, so a department can verify a score by hand.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exotic dependency.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SHA-256, standard Postgres, open mapping. Nothing to retrain, nothing to licence.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2761488"/>
            <a:ext cx="5349240" cy="1719072"/>
          </a:xfrm>
          <a:prstGeom prst="roundRect">
            <a:avLst>
              <a:gd name="adj" fmla="val 3191"/>
            </a:avLst>
          </a:prstGeom>
          <a:solidFill>
            <a:srgbClr val="E6F0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9260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F6F4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29077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REGULATORY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" y="3328416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the Act.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sequence, thresholds and documents follow RFCTLARR 2013, so it maps onto the process officers already run.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chain of command.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→ State → District → Field scoping is enforced in the data-access layer, matching how authority is actually delegated.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Adopts, does not replace.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interface can point at DILRMP / Bhoomi Rashi records rather than new tables.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1480" y="4608576"/>
            <a:ext cx="5349240" cy="1719072"/>
          </a:xfrm>
          <a:prstGeom prst="roundRect">
            <a:avLst>
              <a:gd name="adj" fmla="val 3191"/>
            </a:avLst>
          </a:prstGeom>
          <a:solidFill>
            <a:srgbClr val="FBF0D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47731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77E0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75488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VIABILITY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" y="5175504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marginal pilot cost.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managed Postgres plus static hosting is enough for a district to start.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 AI or OCR licence.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is arithmetic over the department’s own data, not a paid model.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is the real cost. </a:t>
            </a:r>
            <a:pPr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acquisition recurs among the leading causes of time and cost overrun in central-sector projects (MoSPI Flash Reports) — every parcel-week saved compounds.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53328" y="8961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A93B2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053328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19088" y="87782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HOW WE HAVE ALREADY ANSWERED THEM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53328" y="1316736"/>
            <a:ext cx="2487168" cy="841248"/>
          </a:xfrm>
          <a:prstGeom prst="roundRect">
            <a:avLst>
              <a:gd name="adj" fmla="val 5435"/>
            </a:avLst>
          </a:prstGeom>
          <a:solidFill>
            <a:srgbClr val="F8EAE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172200" y="1316736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live in many state systems, in different formats.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13648" y="1737360"/>
            <a:ext cx="256032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961120" y="1316736"/>
            <a:ext cx="2816352" cy="841248"/>
          </a:xfrm>
          <a:prstGeom prst="roundRect">
            <a:avLst>
              <a:gd name="adj" fmla="val 5435"/>
            </a:avLst>
          </a:prstGeom>
          <a:solidFill>
            <a:srgbClr val="E6F0E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070848" y="1316736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model, pluggable adapters. Demo, Supabase, or a state’s own API — the rules layer never changes, so integration is an adapter, not a rewrite.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053328" y="2286000"/>
            <a:ext cx="2487168" cy="841248"/>
          </a:xfrm>
          <a:prstGeom prst="roundRect">
            <a:avLst>
              <a:gd name="adj" fmla="val 5435"/>
            </a:avLst>
          </a:prstGeom>
          <a:solidFill>
            <a:srgbClr val="F8EAE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172200" y="2286000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will not trust a score they cannot argue with.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613648" y="2706624"/>
            <a:ext cx="256032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961120" y="2286000"/>
            <a:ext cx="2816352" cy="841248"/>
          </a:xfrm>
          <a:prstGeom prst="roundRect">
            <a:avLst>
              <a:gd name="adj" fmla="val 5435"/>
            </a:avLst>
          </a:prstGeom>
          <a:solidFill>
            <a:srgbClr val="E6F0E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70848" y="2286000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parcel shows its four contributors and their points, the named responsible officer, and the specific blocking document. No black box, no ML.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053328" y="3255264"/>
            <a:ext cx="2487168" cy="841248"/>
          </a:xfrm>
          <a:prstGeom prst="roundRect">
            <a:avLst>
              <a:gd name="adj" fmla="val 5435"/>
            </a:avLst>
          </a:prstGeom>
          <a:solidFill>
            <a:srgbClr val="F8EAE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172200" y="3255264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register can be quietly edited after the fact.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613648" y="3675888"/>
            <a:ext cx="256032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8961120" y="3255264"/>
            <a:ext cx="2816352" cy="841248"/>
          </a:xfrm>
          <a:prstGeom prst="roundRect">
            <a:avLst>
              <a:gd name="adj" fmla="val 5435"/>
            </a:avLst>
          </a:prstGeom>
          <a:solidFill>
            <a:srgbClr val="E6F0EA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9070848" y="3255264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history is SHA-256 hash-chained. Alter one entry and verification breaks at that link and every link after it — visibly, on the parcel page.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53328" y="4224528"/>
            <a:ext cx="2487168" cy="841248"/>
          </a:xfrm>
          <a:prstGeom prst="roundRect">
            <a:avLst>
              <a:gd name="adj" fmla="val 5435"/>
            </a:avLst>
          </a:prstGeom>
          <a:solidFill>
            <a:srgbClr val="F8EAE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172200" y="4224528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Landowners have weak connectivity and mixed literacy.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613648" y="4645152"/>
            <a:ext cx="256032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961120" y="4224528"/>
            <a:ext cx="2816352" cy="841248"/>
          </a:xfrm>
          <a:prstGeom prst="roundRect">
            <a:avLst>
              <a:gd name="adj" fmla="val 5435"/>
            </a:avLst>
          </a:prstGeom>
          <a:solidFill>
            <a:srgbClr val="E6F0EA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9070848" y="4224528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Zero-login survey-number lookup, Hindi/English UI, voice input, read-aloud, data-saver mode, and SMS in the language on record.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53328" y="5193792"/>
            <a:ext cx="2487168" cy="841248"/>
          </a:xfrm>
          <a:prstGeom prst="roundRect">
            <a:avLst>
              <a:gd name="adj" fmla="val 5435"/>
            </a:avLst>
          </a:prstGeom>
          <a:solidFill>
            <a:srgbClr val="F8EAE6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172200" y="5193792"/>
            <a:ext cx="2249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time is scarce; another portal is another burden.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8613648" y="5614416"/>
            <a:ext cx="256032" cy="0"/>
          </a:xfrm>
          <a:prstGeom prst="line">
            <a:avLst/>
          </a:prstGeom>
          <a:noFill/>
          <a:ln w="19050">
            <a:solidFill>
              <a:srgbClr val="C77E0A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8961120" y="5193792"/>
            <a:ext cx="2816352" cy="841248"/>
          </a:xfrm>
          <a:prstGeom prst="roundRect">
            <a:avLst>
              <a:gd name="adj" fmla="val 5435"/>
            </a:avLst>
          </a:prstGeom>
          <a:solidFill>
            <a:srgbClr val="E6F0EA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9070848" y="5193792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Center is a ranked queue, not a search box: it opens on the parcels most likely to stall, already sorted, with the next action written out.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161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560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CyberPookies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828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60" kern="0" dirty="0">
                <a:solidFill>
                  <a:srgbClr val="161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700" dirty="0"/>
          </a:p>
        </p:txBody>
      </p:sp>
      <p:pic>
        <p:nvPicPr>
          <p:cNvPr id="5" name="Image 0" descr="C:\Users\Ariha\AppData\Local\Temp\claude\C--Users-Ariha-OneDrive-Desktop-Shivansh-Sih\dae494b5-d612-4a61-8c44-43816428a686\scratchpad\sih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4" y="146304"/>
            <a:ext cx="44805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881360" y="164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644652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PS 26016  ·  Ministry of Rural Development, Dept. of Land Resources  ·  Team CyberPookies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292840" y="644652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87782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140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85953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CHANGES THINGS FOR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60520" y="1280160"/>
            <a:ext cx="3703320" cy="566928"/>
          </a:xfrm>
          <a:prstGeom prst="roundRect">
            <a:avLst>
              <a:gd name="adj" fmla="val 16129"/>
            </a:avLst>
          </a:prstGeom>
          <a:solidFill>
            <a:srgbClr val="16140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60520" y="128016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PARCEL RECORD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505560" y="1956816"/>
            <a:ext cx="0" cy="256032"/>
          </a:xfrm>
          <a:prstGeom prst="line">
            <a:avLst/>
          </a:prstGeom>
          <a:noFill/>
          <a:ln w="19050">
            <a:solidFill>
              <a:srgbClr val="DCD6C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6568" y="2267712"/>
            <a:ext cx="2157984" cy="1572768"/>
          </a:xfrm>
          <a:prstGeom prst="roundRect">
            <a:avLst>
              <a:gd name="adj" fmla="val 3488"/>
            </a:avLst>
          </a:prstGeom>
          <a:solidFill>
            <a:srgbClr val="FBF0D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1160" y="24323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C77E0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548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/ DoLR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91160" y="2743200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national rollup — parcels by stage, compensation assessed vs disbursed, R&amp;R progress and which projects are slipping — without calling for a return from the states.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800704" y="1956816"/>
            <a:ext cx="0" cy="256032"/>
          </a:xfrm>
          <a:prstGeom prst="line">
            <a:avLst/>
          </a:prstGeom>
          <a:noFill/>
          <a:ln w="19050">
            <a:solidFill>
              <a:srgbClr val="DCD6C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721712" y="2267712"/>
            <a:ext cx="2157984" cy="1572768"/>
          </a:xfrm>
          <a:prstGeom prst="roundRect">
            <a:avLst>
              <a:gd name="adj" fmla="val 3488"/>
            </a:avLst>
          </a:prstGeom>
          <a:solidFill>
            <a:srgbClr val="EAEEF3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886304" y="24323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A4A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160624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District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2886304" y="2743200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queue instead of a pile: the parcels most likely to stall surface first, each with a responsible officer and a named blocking document.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95848" y="1956816"/>
            <a:ext cx="0" cy="256032"/>
          </a:xfrm>
          <a:prstGeom prst="line">
            <a:avLst/>
          </a:prstGeom>
          <a:noFill/>
          <a:ln w="19050">
            <a:solidFill>
              <a:srgbClr val="DCD6C4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016856" y="2267712"/>
            <a:ext cx="2157984" cy="1572768"/>
          </a:xfrm>
          <a:prstGeom prst="roundRect">
            <a:avLst>
              <a:gd name="adj" fmla="val 3488"/>
            </a:avLst>
          </a:prstGeom>
          <a:solidFill>
            <a:srgbClr val="E6F0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181448" y="24323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F6F4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55768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181448" y="2743200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says what is missing before a file is moved, so parcels stop bouncing back between offices for a document nobody listed.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390992" y="1956816"/>
            <a:ext cx="0" cy="256032"/>
          </a:xfrm>
          <a:prstGeom prst="line">
            <a:avLst/>
          </a:prstGeom>
          <a:noFill/>
          <a:ln w="19050">
            <a:solidFill>
              <a:srgbClr val="DCD6C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312000" y="2267712"/>
            <a:ext cx="2157984" cy="1572768"/>
          </a:xfrm>
          <a:prstGeom prst="roundRect">
            <a:avLst>
              <a:gd name="adj" fmla="val 3488"/>
            </a:avLst>
          </a:prstGeom>
          <a:solidFill>
            <a:srgbClr val="F8EAE6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476592" y="24323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A93B2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750912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Landowners &amp; families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476592" y="2743200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survey number, their own language, no login — plus a recorded objection they can actually watch move.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686136" y="1956816"/>
            <a:ext cx="0" cy="256032"/>
          </a:xfrm>
          <a:prstGeom prst="line">
            <a:avLst/>
          </a:prstGeom>
          <a:noFill/>
          <a:ln w="19050">
            <a:solidFill>
              <a:srgbClr val="DCD6C4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607144" y="2267712"/>
            <a:ext cx="2157984" cy="1572768"/>
          </a:xfrm>
          <a:prstGeom prst="roundRect">
            <a:avLst>
              <a:gd name="adj" fmla="val 3488"/>
            </a:avLst>
          </a:prstGeom>
          <a:solidFill>
            <a:srgbClr val="F6F3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771736" y="24323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6140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046056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RTI &amp; courts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9771736" y="2743200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timestamped, hash-chained record of who advanced a parcel, when, and on what document — evidence, not recollection.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11480" y="40416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77E0A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1148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77240" y="40233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ANALYSIS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411480" y="4462272"/>
            <a:ext cx="3648456" cy="1463040"/>
          </a:xfrm>
          <a:prstGeom prst="roundRect">
            <a:avLst>
              <a:gd name="adj" fmla="val 3750"/>
            </a:avLst>
          </a:prstGeom>
          <a:solidFill>
            <a:srgbClr val="F6F3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94360" y="462686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A4A5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50392" y="4590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612648" y="4919472"/>
            <a:ext cx="3255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breaches are visible the day they occur, not at the next project review.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goes to a named role, so accountability has an address.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printable, scope-aware report replaces manual compilation of returns.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242816" y="4462272"/>
            <a:ext cx="3648456" cy="1463040"/>
          </a:xfrm>
          <a:prstGeom prst="roundRect">
            <a:avLst>
              <a:gd name="adj" fmla="val 3750"/>
            </a:avLst>
          </a:prstGeom>
          <a:solidFill>
            <a:srgbClr val="F6F3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425696" y="462686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F6F4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681728" y="4590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6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4443984" y="4919472"/>
            <a:ext cx="3255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removes the information asymmetry that turns delay into dispute.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are logged and tracked, not verbally deflected at a counter.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literacy and connectivity stop deciding who can follow their own case.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074152" y="4462272"/>
            <a:ext cx="3648456" cy="1463040"/>
          </a:xfrm>
          <a:prstGeom prst="roundRect">
            <a:avLst>
              <a:gd name="adj" fmla="val 3750"/>
            </a:avLst>
          </a:prstGeom>
          <a:solidFill>
            <a:srgbClr val="F6F3E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257032" y="462686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C77E0A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513064" y="4590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ENVIRONMENTAL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8275320" y="4919472"/>
            <a:ext cx="32552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possession shortens the overruns that land acquisition drives in infrastructure projects.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gaps are visible early, reducing interest and litigation exposure.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files and print-on-demand reports end the physical movement of records between offices.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" y="6035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E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 </a:t>
            </a:r>
            <a:pPr indent="0" marL="0"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gated end to end</a:t>
            </a:r>
            <a:endParaRPr lang="en-US" sz="1700" dirty="0"/>
          </a:p>
        </p:txBody>
      </p:sp>
      <p:sp>
        <p:nvSpPr>
          <p:cNvPr id="55" name="Text 52"/>
          <p:cNvSpPr txBox="1"/>
          <p:nvPr/>
        </p:nvSpPr>
        <p:spPr>
          <a:xfrm>
            <a:off x="2706624" y="6035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E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pPr indent="0" marL="0"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portals</a:t>
            </a:r>
            <a:endParaRPr lang="en-US" sz="1700" dirty="0"/>
          </a:p>
        </p:txBody>
      </p:sp>
      <p:sp>
        <p:nvSpPr>
          <p:cNvPr id="56" name="Text 53"/>
          <p:cNvSpPr txBox="1"/>
          <p:nvPr/>
        </p:nvSpPr>
        <p:spPr>
          <a:xfrm>
            <a:off x="5001768" y="6035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E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  </a:t>
            </a:r>
            <a:pPr indent="0" marL="0"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score</a:t>
            </a:r>
            <a:endParaRPr lang="en-US" sz="1700" dirty="0"/>
          </a:p>
        </p:txBody>
      </p:sp>
      <p:sp>
        <p:nvSpPr>
          <p:cNvPr id="57" name="Text 54"/>
          <p:cNvSpPr txBox="1"/>
          <p:nvPr/>
        </p:nvSpPr>
        <p:spPr>
          <a:xfrm>
            <a:off x="7296912" y="6035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E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indent="0" marL="0"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languages</a:t>
            </a:r>
            <a:endParaRPr lang="en-US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9592056" y="6035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E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</a:t>
            </a:r>
            <a:pPr indent="0" marL="0"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for landowners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16140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560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CyberPookies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828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spc="60" kern="0" dirty="0">
                <a:solidFill>
                  <a:srgbClr val="161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700" dirty="0"/>
          </a:p>
        </p:txBody>
      </p:sp>
      <p:pic>
        <p:nvPicPr>
          <p:cNvPr id="5" name="Image 0" descr="C:\Users\Ariha\AppData\Local\Temp\claude\C--Users-Ariha-OneDrive-Desktop-Shivansh-Sih\dae494b5-d612-4a61-8c44-43816428a686\scratchpad\sih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4" y="146304"/>
            <a:ext cx="44805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881360" y="164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8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644652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PS 26016  ·  Ministry of Rural Development, Dept. of Land Resources  ·  Team CyberPookies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292840" y="6446520"/>
            <a:ext cx="484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914400"/>
            <a:ext cx="5623560" cy="2487168"/>
          </a:xfrm>
          <a:prstGeom prst="roundRect">
            <a:avLst>
              <a:gd name="adj" fmla="val 2206"/>
            </a:avLst>
          </a:prstGeom>
          <a:solidFill>
            <a:srgbClr val="FBF0DA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0789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77E0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106070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 &amp; POLICY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1499616"/>
            <a:ext cx="51114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 Fair Compensation and Transparency in Land Acquisition, Rehabilitation and Resettlement Act, 2013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Sec. 11 (preliminary notification), Sec. 15 (objections), Sec. 19 (declaration), Sec. 23 (award), Sec. 38 (possession), and the Second Schedule (R&amp;R entitlements). Source of our seven stages and their deadlines.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Rural Development, Department of Land Resources — Digital India Land Records Modernisation Programme (DILRMP)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record digitisation, survey/settlement and the integration targets our data layer is designed to meet.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DoLR — National Generic Document Registration System (NGDRS) and Bhu-Naksha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cadastral mapping: the registry and spatial sources a production deployment would read from.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Information Act, 2005 and the Public Records Act, 1993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disclosure and retention obligations that a timestamped, tamper-evident acquisition ledger directly serves.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3547872"/>
            <a:ext cx="5623560" cy="2798064"/>
          </a:xfrm>
          <a:prstGeom prst="roundRect">
            <a:avLst>
              <a:gd name="adj" fmla="val 1961"/>
            </a:avLst>
          </a:prstGeom>
          <a:solidFill>
            <a:srgbClr val="F8EAE6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7124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A93B2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69417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THE PROBLEM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" y="4133088"/>
            <a:ext cx="51114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 — Flash Report on Central Sector Projects (₹150 crore and above)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land acquisition recurs among the leading stated reasons for time and cost overrun in monitored infrastructure projects.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Comptroller and Auditor General of India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performance audits on land acquisition and compensation disbursal in national highway projects.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Parliamentary Standing Committee on Rural Development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reports on the implementation of the RFCTLARR Act, 2013, including delays in award, disbursal and R&amp;R.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MoRTH — Bhoomi Rashi portal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(e-land acquisition for National Highways, with compensation routed through PFMS): the closest existing system, and the reason our design is adapter-based rather than a parallel silo.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Rural Development — Annual Report (Dept. of Land Resources)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coverage of land-record digitisation and pendency, showing how much of the acquisition chain is still handled on paper.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63056" y="914400"/>
            <a:ext cx="5614416" cy="3054096"/>
          </a:xfrm>
          <a:prstGeom prst="roundRect">
            <a:avLst>
              <a:gd name="adj" fmla="val 1796"/>
            </a:avLst>
          </a:prstGeom>
          <a:solidFill>
            <a:srgbClr val="EAEEF3"/>
          </a:solidFill>
          <a:ln/>
          <a:effectLst>
            <a:outerShdw sx="100000" sy="100000" kx="0" ky="0" algn="bl" rotWithShape="0" blurRad="101600" dist="12700" dir="5400000">
              <a:srgbClr val="B9B2A0">
                <a:alpha val="3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91656" y="10789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A4A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91656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757416" y="106070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STANDARDS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1499616"/>
            <a:ext cx="510235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180-4 / RFC 6234 — SHA-256,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W3C Web Crypto API: the hash chain that makes our stage history tamper-evident in the browser, with no server round-trip.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Row-Level Security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enabled on every table. Scoping predicates live in our data-access layer today (authentication is out of prototype scope) and are written to become RLS policies once identities exist.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WCAG 2.1 AA and the Web Speech API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accessibility baseline, plus the voice input and read-aloud that make the landowner portal usable at low literacy.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Indian Government Websites (GIGW 3.0), NIC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compliance target for a public-facing government portal.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Andrew’s monotone-chain convex hull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computes each project’s extent from its parcel points for the map view, with no geospatial dependency added.</a:t>
            </a:r>
            <a:endParaRPr lang="en-US" sz="9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161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(managed PostgreSQL, Storage, Auth) and OpenStreetMap / Leaflet </a:t>
            </a:r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57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deployment target the live adapter is written against, chosen so a district pilot needs no bespoke server operations.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63056" y="4114800"/>
            <a:ext cx="5614416" cy="2231136"/>
          </a:xfrm>
          <a:prstGeom prst="roundRect">
            <a:avLst>
              <a:gd name="adj" fmla="val 2459"/>
            </a:avLst>
          </a:prstGeom>
          <a:solidFill>
            <a:srgbClr val="16140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19088" y="43342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BRINGING TO THE TABLE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419088" y="4626864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9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deck — a running system. Seven statutory stages, five role-scoped portals, an explainable risk queue, a tamper-evident ledger and a zero-login landowner portal, already working over 42 parcels across 5 projects and 5 states, on code that runs unchanged against in-memory data or PostgreSQL.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19088" y="5632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F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on these slides — the risk weights, the SLA thresholds, the document lists, the hash chain — is read out of the running code, not estimated for the deck.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BhoomiSetu — SIH 2026 (PS 26016)</dc:title>
  <dc:subject>PptxGenJS Presentation</dc:subject>
  <dc:creator>Team CyberPookies</dc:creator>
  <cp:lastModifiedBy>Team CyberPookies</cp:lastModifiedBy>
  <cp:revision>1</cp:revision>
  <dcterms:created xsi:type="dcterms:W3CDTF">2026-08-30T13:13:26Z</dcterms:created>
  <dcterms:modified xsi:type="dcterms:W3CDTF">2026-08-30T13:13:26Z</dcterms:modified>
</cp:coreProperties>
</file>